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grpSpPr/>
        <p:nvGrpSp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grpSpPr/>
        <p:nv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CivicConnect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AI-Powered Civic Issue Reporting &amp; Management Platform</a:t>
            </a:r>
          </a:p>
          <a:p>
            <a:r>
              <a:rPr lang="en-US" sz="1600">
                <a:solidFill>
                  <a:srgbClr val="334155"/>
                </a:solidFill>
              </a:rPr>
              <a:t>Smart City Hackathon Submission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Problem Statement &amp; Vision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Current Challenges:</a:t>
            </a:r>
          </a:p>
          <a:p>
            <a:r>
              <a:rPr lang="en-US" sz="1600">
                <a:solidFill>
                  <a:srgbClr val="334155"/>
                </a:solidFill>
              </a:rPr>
              <a:t>- Delayed Municipal Response &amp; Lack of Real-Time Tracking</a:t>
            </a:r>
          </a:p>
          <a:p>
            <a:r>
              <a:rPr lang="en-US" sz="1600">
                <a:solidFill>
                  <a:srgbClr val="334155"/>
                </a:solidFill>
              </a:rPr>
              <a:t>- Unverified Resolutions &amp; Lack of Inspection Proof</a:t>
            </a:r>
          </a:p>
          <a:p>
            <a:r>
              <a:rPr lang="en-US" sz="1600">
                <a:solidFill>
                  <a:srgbClr val="334155"/>
                </a:solidFill>
              </a:rPr>
              <a:t>- Security Vulnerabilities &amp; Unverified Citizen Accounts</a:t>
            </a:r>
          </a:p>
          <a:p>
            <a:r>
              <a:rPr lang="en-US" sz="1600">
                <a:solidFill>
                  <a:srgbClr val="334155"/>
                </a:solidFill>
              </a:rPr>
              <a:t/>
            </a:r>
          </a:p>
          <a:p>
            <a:r>
              <a:rPr lang="en-US" sz="1600">
                <a:solidFill>
                  <a:srgbClr val="334155"/>
                </a:solidFill>
              </a:rPr>
              <a:t>CivicConnect Solution:</a:t>
            </a:r>
          </a:p>
          <a:p>
            <a:r>
              <a:rPr lang="en-US" sz="1600">
                <a:solidFill>
                  <a:srgbClr val="334155"/>
                </a:solidFill>
              </a:rPr>
              <a:t>- 5-Step Transparency Progress Tracker</a:t>
            </a:r>
          </a:p>
          <a:p>
            <a:r>
              <a:rPr lang="en-US" sz="1600">
                <a:solidFill>
                  <a:srgbClr val="334155"/>
                </a:solidFill>
              </a:rPr>
              <a:t>- Strict Department Head Verification Workflow</a:t>
            </a:r>
          </a:p>
          <a:p>
            <a:r>
              <a:rPr lang="en-US" sz="1600">
                <a:solidFill>
                  <a:srgbClr val="334155"/>
                </a:solidFill>
              </a:rPr>
              <a:t>- Brevo 2-Factor OTP (Email &amp; SMS) Authentication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Multi-Role System Architecture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Stakeholder Roles &amp; Privileges:</a:t>
            </a:r>
          </a:p>
          <a:p>
            <a:r>
              <a:rPr lang="en-US" sz="1600">
                <a:solidFill>
                  <a:srgbClr val="334155"/>
                </a:solidFill>
              </a:rPr>
              <a:t>1. Citizen: File text/voice complaints, track status, receive notifications</a:t>
            </a:r>
          </a:p>
          <a:p>
            <a:r>
              <a:rPr lang="en-US" sz="1600">
                <a:solidFill>
                  <a:srgbClr val="334155"/>
                </a:solidFill>
              </a:rPr>
              <a:t>2. Field Worker: Perform field repair, upload before/after photos, request verification</a:t>
            </a:r>
          </a:p>
          <a:p>
            <a:r>
              <a:rPr lang="en-US" sz="1600">
                <a:solidFill>
                  <a:srgbClr val="334155"/>
                </a:solidFill>
              </a:rPr>
              <a:t>3. Department Head: Auto-routed complaints, worker task &amp; deadline assignment, review &amp; mark resolved</a:t>
            </a:r>
          </a:p>
          <a:p>
            <a:r>
              <a:rPr lang="en-US" sz="1600">
                <a:solidFill>
                  <a:srgbClr val="334155"/>
                </a:solidFill>
              </a:rPr>
              <a:t>4. Super Admin: Analytics dashboard, 1-click filtered PDF reports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Strict 5-Step Progress Tracker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Complaint Status Lifecycle:</a:t>
            </a:r>
          </a:p>
          <a:p>
            <a:r>
              <a:rPr lang="en-US" sz="1600">
                <a:solidFill>
                  <a:srgbClr val="334155"/>
                </a:solidFill>
              </a:rPr>
              <a:t>1. Submitted: Citizen logs issue with location &amp; photo</a:t>
            </a:r>
          </a:p>
          <a:p>
            <a:r>
              <a:rPr lang="en-US" sz="1600">
                <a:solidFill>
                  <a:srgbClr val="334155"/>
                </a:solidFill>
              </a:rPr>
              <a:t>2. Assigned: Department Head assigns worker &amp; deadline</a:t>
            </a:r>
          </a:p>
          <a:p>
            <a:r>
              <a:rPr lang="en-US" sz="1600">
                <a:solidFill>
                  <a:srgbClr val="334155"/>
                </a:solidFill>
              </a:rPr>
              <a:t>3. In Progress: Field worker begins repair work</a:t>
            </a:r>
          </a:p>
          <a:p>
            <a:r>
              <a:rPr lang="en-US" sz="1600">
                <a:solidFill>
                  <a:srgbClr val="334155"/>
                </a:solidFill>
              </a:rPr>
              <a:t>4. Sent for Verification: Worker submits proof (Pending Approval)</a:t>
            </a:r>
          </a:p>
          <a:p>
            <a:r>
              <a:rPr lang="en-US" sz="1600">
                <a:solidFill>
                  <a:srgbClr val="334155"/>
                </a:solidFill>
              </a:rPr>
              <a:t>5. Resolved: DH approves work &amp; activates final status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Brevo OTP Verification Engine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Security Architecture:</a:t>
            </a:r>
          </a:p>
          <a:p>
            <a:r>
              <a:rPr lang="en-US" sz="1600">
                <a:solidFill>
                  <a:srgbClr val="334155"/>
                </a:solidFill>
              </a:rPr>
              <a:t>- 6-Digit Secure OTP Generation (SecureRandom)</a:t>
            </a:r>
          </a:p>
          <a:p>
            <a:r>
              <a:rPr lang="en-US" sz="1600">
                <a:solidFill>
                  <a:srgbClr val="334155"/>
                </a:solidFill>
              </a:rPr>
              <a:t>- 5-Minute Expiry Window &amp; Rate Limiting (Max 5 Attempts)</a:t>
            </a:r>
          </a:p>
          <a:p>
            <a:r>
              <a:rPr lang="en-US" sz="1600">
                <a:solidFill>
                  <a:srgbClr val="334155"/>
                </a:solidFill>
              </a:rPr>
              <a:t>- Brevo v3 Transactional Email &amp; SMS REST API Integration</a:t>
            </a:r>
          </a:p>
          <a:p>
            <a:r>
              <a:rPr lang="en-US" sz="1600">
                <a:solidFill>
                  <a:srgbClr val="334155"/>
                </a:solidFill>
              </a:rPr>
              <a:t>- Zero Client-Side Secret Leakage (Backend Proxy Authentication)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Automated PDF Report Exporter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Built-In PDF Exporter Modules:</a:t>
            </a:r>
          </a:p>
          <a:p>
            <a:r>
              <a:rPr lang="en-US" sz="1600">
                <a:solidFill>
                  <a:srgbClr val="334155"/>
                </a:solidFill>
              </a:rPr>
              <a:t>- Complaints Report (Scope: All, Filtered, By Date/Month/Year)</a:t>
            </a:r>
          </a:p>
          <a:p>
            <a:r>
              <a:rPr lang="en-US" sz="1600">
                <a:solidFill>
                  <a:srgbClr val="334155"/>
                </a:solidFill>
              </a:rPr>
              <a:t>- Citizens Directory Report (Scope: All, By Date/Month/Year)</a:t>
            </a:r>
          </a:p>
          <a:p>
            <a:r>
              <a:rPr lang="en-US" sz="1600">
                <a:solidFill>
                  <a:srgbClr val="334155"/>
                </a:solidFill>
              </a:rPr>
              <a:t>- Workers Directory Report (Scope: All, By Date/Month/Year + Joining Date)</a:t>
            </a:r>
          </a:p>
          <a:p>
            <a:r>
              <a:rPr lang="en-US" sz="1600">
                <a:solidFill>
                  <a:srgbClr val="334155"/>
                </a:solidFill>
              </a:rPr>
              <a:t>- Department Heads Report (Scope: All, By Date/Month/Year + Joining Date)</a:t>
            </a:r>
          </a:p>
          <a:p>
            <a:r>
              <a:rPr lang="en-US" sz="1600">
                <a:solidFill>
                  <a:srgbClr val="334155"/>
                </a:solidFill>
              </a:rPr>
              <a:t>- Departments Directory Report (Scope: All, By Department)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Database Architecture (Oracle SQL)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Relational Schema Entities:</a:t>
            </a:r>
          </a:p>
          <a:p>
            <a:r>
              <a:rPr lang="en-US" sz="1600">
                <a:solidFill>
                  <a:srgbClr val="334155"/>
                </a:solidFill>
              </a:rPr>
              <a:t>- USERS: Central authentication table with RBAC roles</a:t>
            </a:r>
          </a:p>
          <a:p>
            <a:r>
              <a:rPr lang="en-US" sz="1600">
                <a:solidFill>
                  <a:srgbClr val="334155"/>
                </a:solidFill>
              </a:rPr>
              <a:t>- COMPLAINTS: Issues with priority, status, before/after photos, deadlines</a:t>
            </a:r>
          </a:p>
          <a:p>
            <a:r>
              <a:rPr lang="en-US" sz="1600">
                <a:solidFill>
                  <a:srgbClr val="334155"/>
                </a:solidFill>
              </a:rPr>
              <a:t>- WORKERS &amp; DEPARTMENT_HEADS: District &amp; Department mapping</a:t>
            </a:r>
          </a:p>
          <a:p>
            <a:r>
              <a:rPr lang="en-US" sz="1600">
                <a:solidFill>
                  <a:srgbClr val="334155"/>
                </a:solidFill>
              </a:rPr>
              <a:t>- CITIZENS: Location, district, pincode profile data</a:t>
            </a:r>
          </a:p>
          <a:p>
            <a:r>
              <a:rPr lang="en-US" sz="1600">
                <a:solidFill>
                  <a:srgbClr val="334155"/>
                </a:solidFill>
              </a:rPr>
              <a:t>- NOTIFICATIONS: Triggers for status changes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Technology Stack &amp; Rigor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Frontend: React 18, Vite, Tailwind CSS, Redux Toolkit, Lucide Icons</a:t>
            </a:r>
          </a:p>
          <a:p>
            <a:r>
              <a:rPr lang="en-US" sz="1600">
                <a:solidFill>
                  <a:srgbClr val="334155"/>
                </a:solidFill>
              </a:rPr>
              <a:t>Backend: Spring Boot 3.2.4 (Java 21), Spring Security, JWT</a:t>
            </a:r>
          </a:p>
          <a:p>
            <a:r>
              <a:rPr lang="en-US" sz="1600">
                <a:solidFill>
                  <a:srgbClr val="334155"/>
                </a:solidFill>
              </a:rPr>
              <a:t>Database: Oracle Database XE (JPA / Hibernate ORM Dialect)</a:t>
            </a:r>
          </a:p>
          <a:p>
            <a:r>
              <a:rPr lang="en-US" sz="1600">
                <a:solidFill>
                  <a:srgbClr val="334155"/>
                </a:solidFill>
              </a:rPr>
              <a:t>External Services: Brevo REST API v3, Web Speech API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grpSpPr/>
        <p:nvGrpSpPr/>
      </p:nvGrpSpPr>
      <p:grpSpPr/>
      <p:sp>
        <p:nvSpPr>
          <p:cNvPr id="2" name="Title"/>
          <p:spLocks noGrp="1"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6B21A8"/>
                </a:solidFill>
              </a:rPr>
              <a:t>Impact &amp; Future Roadmap</a:t>
            </a:r>
          </a:p>
        </p:txBody>
      </p:sp>
      <p:sp>
        <p:nvSpPr>
          <p:cNvPr id="3" name="Body"/>
          <p:spLocks noGrp="1"/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1600">
                <a:solidFill>
                  <a:srgbClr val="334155"/>
                </a:solidFill>
              </a:rPr>
              <a:t>Project Achievements:</a:t>
            </a:r>
          </a:p>
          <a:p>
            <a:r>
              <a:rPr lang="en-US" sz="1600">
                <a:solidFill>
                  <a:srgbClr val="334155"/>
                </a:solidFill>
              </a:rPr>
              <a:t>- 100% Elimination of Unverified Issue Closures</a:t>
            </a:r>
          </a:p>
          <a:p>
            <a:r>
              <a:rPr lang="en-US" sz="1600">
                <a:solidFill>
                  <a:srgbClr val="334155"/>
                </a:solidFill>
              </a:rPr>
              <a:t>- Coverage across 38 Districts &amp; 7 Civic Departments of Tamil Nadu</a:t>
            </a:r>
          </a:p>
          <a:p>
            <a:r>
              <a:rPr lang="en-US" sz="1600">
                <a:solidFill>
                  <a:srgbClr val="334155"/>
                </a:solidFill>
              </a:rPr>
              <a:t>- Multi-lingual Voice Complaint Accessibility</a:t>
            </a:r>
          </a:p>
          <a:p>
            <a:r>
              <a:rPr lang="en-US" sz="1600">
                <a:solidFill>
                  <a:srgbClr val="334155"/>
                </a:solidFill>
              </a:rPr>
              <a:t/>
            </a:r>
          </a:p>
          <a:p>
            <a:r>
              <a:rPr lang="en-US" sz="1600">
                <a:solidFill>
                  <a:srgbClr val="334155"/>
                </a:solidFill>
              </a:rPr>
              <a:t>Future Scope:</a:t>
            </a:r>
          </a:p>
          <a:p>
            <a:r>
              <a:rPr lang="en-US" sz="1600">
                <a:solidFill>
                  <a:srgbClr val="334155"/>
                </a:solidFill>
              </a:rPr>
              <a:t>- GIS Heatmap Integration &amp; AI Predictive Infrastructure Damage Analytics</a:t>
            </a:r>
          </a:p>
        </p:txBody>
      </p:sp>
    </p:spTree>
  </p:cSld>
</p:sld>
</file>